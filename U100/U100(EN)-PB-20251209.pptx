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2" r:id="rId5"/>
  </p:sldIdLst>
  <p:sldSz cx="12160250" cy="875792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7" userDrawn="1">
          <p15:clr>
            <a:srgbClr val="A4A3A4"/>
          </p15:clr>
        </p15:guide>
        <p15:guide id="2" pos="52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A672"/>
    <a:srgbClr val="FFFFFF"/>
    <a:srgbClr val="0E0E0E"/>
    <a:srgbClr val="575757"/>
    <a:srgbClr val="0F0F0F"/>
    <a:srgbClr val="010101"/>
    <a:srgbClr val="B0AFAD"/>
    <a:srgbClr val="64615D"/>
    <a:srgbClr val="64605C"/>
    <a:srgbClr val="D5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037" y="-274"/>
      </p:cViewPr>
      <p:guideLst>
        <p:guide orient="horz" pos="2327"/>
        <p:guide pos="520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17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86497" y="1143000"/>
            <a:ext cx="4285007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5732" y="1167840"/>
            <a:ext cx="9774123" cy="328282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766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5732" y="4547220"/>
            <a:ext cx="9774123" cy="188049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065" spc="200"/>
            </a:lvl1pPr>
            <a:lvl2pPr marL="584200" indent="0" algn="ctr">
              <a:buNone/>
              <a:defRPr sz="2555"/>
            </a:lvl2pPr>
            <a:lvl3pPr marL="1167765" indent="0" algn="ctr">
              <a:buNone/>
              <a:defRPr sz="2300"/>
            </a:lvl3pPr>
            <a:lvl4pPr marL="1751965" indent="0" algn="ctr">
              <a:buNone/>
              <a:defRPr sz="2045"/>
            </a:lvl4pPr>
            <a:lvl5pPr marL="2335530" indent="0" algn="ctr">
              <a:buNone/>
              <a:defRPr sz="2045"/>
            </a:lvl5pPr>
            <a:lvl6pPr marL="2919730" indent="0" algn="ctr">
              <a:buNone/>
              <a:defRPr sz="2045"/>
            </a:lvl6pPr>
            <a:lvl7pPr marL="3503295" indent="0" algn="ctr">
              <a:buNone/>
              <a:defRPr sz="2045"/>
            </a:lvl7pPr>
            <a:lvl8pPr marL="4087495" indent="0" algn="ctr">
              <a:buNone/>
              <a:defRPr sz="2045"/>
            </a:lvl8pPr>
            <a:lvl9pPr marL="4671060" indent="0" algn="ctr">
              <a:buNone/>
              <a:defRPr sz="204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843" y="777027"/>
            <a:ext cx="10941129" cy="90116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6843" y="1903487"/>
            <a:ext cx="10941129" cy="607828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85705" y="4915043"/>
            <a:ext cx="7748919" cy="97933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62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85705" y="5894374"/>
            <a:ext cx="7748919" cy="110806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3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84200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2pPr>
            <a:lvl3pPr marL="1167765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3pPr>
            <a:lvl4pPr marL="1751965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4pPr>
            <a:lvl5pPr marL="2335530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5pPr>
            <a:lvl6pPr marL="2919730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6pPr>
            <a:lvl7pPr marL="3503295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7pPr>
            <a:lvl8pPr marL="4087495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8pPr>
            <a:lvl9pPr marL="4671060" indent="0">
              <a:buNone/>
              <a:defRPr sz="20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843" y="777027"/>
            <a:ext cx="10941129" cy="90116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6843" y="1917281"/>
            <a:ext cx="5163552" cy="606449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95192" y="1917281"/>
            <a:ext cx="5163552" cy="606449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843" y="777027"/>
            <a:ext cx="10941129" cy="90116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6843" y="1825325"/>
            <a:ext cx="5328728" cy="4873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5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84200" indent="0">
              <a:buNone/>
              <a:defRPr sz="2555" b="1"/>
            </a:lvl2pPr>
            <a:lvl3pPr marL="1167765" indent="0">
              <a:buNone/>
              <a:defRPr sz="2300" b="1"/>
            </a:lvl3pPr>
            <a:lvl4pPr marL="1751965" indent="0">
              <a:buNone/>
              <a:defRPr sz="2045" b="1"/>
            </a:lvl4pPr>
            <a:lvl5pPr marL="2335530" indent="0">
              <a:buNone/>
              <a:defRPr sz="2045" b="1"/>
            </a:lvl5pPr>
            <a:lvl6pPr marL="2919730" indent="0">
              <a:buNone/>
              <a:defRPr sz="2045" b="1"/>
            </a:lvl6pPr>
            <a:lvl7pPr marL="3503295" indent="0">
              <a:buNone/>
              <a:defRPr sz="2045" b="1"/>
            </a:lvl7pPr>
            <a:lvl8pPr marL="4087495" indent="0">
              <a:buNone/>
              <a:defRPr sz="2045" b="1"/>
            </a:lvl8pPr>
            <a:lvl9pPr marL="4671060" indent="0">
              <a:buNone/>
              <a:defRPr sz="204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6843" y="2367865"/>
            <a:ext cx="5328728" cy="561390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19792" y="1815783"/>
            <a:ext cx="5328728" cy="4873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55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84200" indent="0">
              <a:buNone/>
              <a:defRPr sz="2555" b="1"/>
            </a:lvl2pPr>
            <a:lvl3pPr marL="1167765" indent="0">
              <a:buNone/>
              <a:defRPr sz="2300" b="1"/>
            </a:lvl3pPr>
            <a:lvl4pPr marL="1751965" indent="0">
              <a:buNone/>
              <a:defRPr sz="2045" b="1"/>
            </a:lvl4pPr>
            <a:lvl5pPr marL="2335530" indent="0">
              <a:buNone/>
              <a:defRPr sz="2045" b="1"/>
            </a:lvl5pPr>
            <a:lvl6pPr marL="2919730" indent="0">
              <a:buNone/>
              <a:defRPr sz="2045" b="1"/>
            </a:lvl6pPr>
            <a:lvl7pPr marL="3503295" indent="0">
              <a:buNone/>
              <a:defRPr sz="2045" b="1"/>
            </a:lvl7pPr>
            <a:lvl8pPr marL="4087495" indent="0">
              <a:buNone/>
              <a:defRPr sz="2045" b="1"/>
            </a:lvl8pPr>
            <a:lvl9pPr marL="4671060" indent="0">
              <a:buNone/>
              <a:defRPr sz="2045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19792" y="2367865"/>
            <a:ext cx="5328728" cy="561390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843" y="777027"/>
            <a:ext cx="10941129" cy="901168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6843" y="1986248"/>
            <a:ext cx="5219685" cy="588517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04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34149" y="1986248"/>
            <a:ext cx="5213823" cy="588517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045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08608" y="1167840"/>
            <a:ext cx="1041328" cy="642312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575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2060" y="1167840"/>
            <a:ext cx="9145735" cy="6423120"/>
          </a:xfrm>
        </p:spPr>
        <p:txBody>
          <a:bodyPr vert="eaVert" lIns="46800" tIns="46800" rIns="46800" bIns="46800"/>
          <a:lstStyle>
            <a:lvl1pPr marL="292100" indent="-292100">
              <a:spcAft>
                <a:spcPts val="1000"/>
              </a:spcAft>
              <a:defRPr spc="300"/>
            </a:lvl1pPr>
            <a:lvl2pPr marL="875665" indent="-292100">
              <a:defRPr spc="300"/>
            </a:lvl2pPr>
            <a:lvl3pPr marL="1459865" indent="-292100">
              <a:defRPr spc="300"/>
            </a:lvl3pPr>
            <a:lvl4pPr marL="2043430" indent="-292100">
              <a:defRPr spc="300"/>
            </a:lvl4pPr>
            <a:lvl5pPr marL="2627630" indent="-2921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6843" y="988526"/>
            <a:ext cx="10944719" cy="700244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5732" y="3172479"/>
            <a:ext cx="9774123" cy="1301176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7665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5732" y="4547220"/>
            <a:ext cx="9774123" cy="60231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06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6843" y="777027"/>
            <a:ext cx="10941129" cy="901168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6843" y="1903487"/>
            <a:ext cx="10941129" cy="607828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0434" y="8064533"/>
            <a:ext cx="2693090" cy="404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05467" y="8064533"/>
            <a:ext cx="3949866" cy="404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54881" y="8064533"/>
            <a:ext cx="2693090" cy="404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167765" rtl="0" eaLnBrk="1" fontAlgn="auto" latinLnBrk="0" hangingPunct="1">
        <a:lnSpc>
          <a:spcPct val="100000"/>
        </a:lnSpc>
        <a:spcBef>
          <a:spcPct val="0"/>
        </a:spcBef>
        <a:buNone/>
        <a:defRPr sz="4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92100" indent="-292100" algn="l" defTabSz="116776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3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875665" indent="-292100" algn="l" defTabSz="1167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056130" algn="l"/>
          <a:tab pos="2056130" algn="l"/>
          <a:tab pos="2056130" algn="l"/>
          <a:tab pos="2056130" algn="l"/>
        </a:tabLst>
        <a:defRPr sz="2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459865" indent="-292100" algn="l" defTabSz="116776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043430" indent="-292100" algn="l" defTabSz="1167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627630" indent="-292100" algn="l" defTabSz="116776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211830" indent="-292100" algn="l" defTabSz="1167765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795395" indent="-292100" algn="l" defTabSz="1167765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379595" indent="-292100" algn="l" defTabSz="1167765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963160" indent="-292100" algn="l" defTabSz="1167765" rtl="0" eaLnBrk="1" latinLnBrk="0" hangingPunct="1">
        <a:lnSpc>
          <a:spcPct val="90000"/>
        </a:lnSpc>
        <a:spcBef>
          <a:spcPct val="128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4200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67765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1965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35530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19730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03295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87495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71060" algn="l" defTabSz="1167765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image" Target="../media/image2.png"/><Relationship Id="rId19" Type="http://schemas.openxmlformats.org/officeDocument/2006/relationships/tags" Target="../tags/tag77.xml"/><Relationship Id="rId18" Type="http://schemas.openxmlformats.org/officeDocument/2006/relationships/image" Target="../media/image4.png"/><Relationship Id="rId17" Type="http://schemas.openxmlformats.org/officeDocument/2006/relationships/image" Target="../media/image3.png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8" Type="http://schemas.openxmlformats.org/officeDocument/2006/relationships/notesSlide" Target="../notesSlides/notesSlide2.xml"/><Relationship Id="rId57" Type="http://schemas.openxmlformats.org/officeDocument/2006/relationships/slideLayout" Target="../slideLayouts/slideLayout1.xml"/><Relationship Id="rId56" Type="http://schemas.openxmlformats.org/officeDocument/2006/relationships/tags" Target="../tags/tag116.xml"/><Relationship Id="rId55" Type="http://schemas.openxmlformats.org/officeDocument/2006/relationships/image" Target="../media/image23.svg"/><Relationship Id="rId54" Type="http://schemas.openxmlformats.org/officeDocument/2006/relationships/image" Target="../media/image22.png"/><Relationship Id="rId53" Type="http://schemas.openxmlformats.org/officeDocument/2006/relationships/image" Target="../media/image21.png"/><Relationship Id="rId52" Type="http://schemas.openxmlformats.org/officeDocument/2006/relationships/image" Target="../media/image2.png"/><Relationship Id="rId51" Type="http://schemas.openxmlformats.org/officeDocument/2006/relationships/tags" Target="../tags/tag115.xml"/><Relationship Id="rId50" Type="http://schemas.openxmlformats.org/officeDocument/2006/relationships/image" Target="../media/image20.png"/><Relationship Id="rId5" Type="http://schemas.openxmlformats.org/officeDocument/2006/relationships/tags" Target="../tags/tag84.xml"/><Relationship Id="rId49" Type="http://schemas.openxmlformats.org/officeDocument/2006/relationships/tags" Target="../tags/tag114.xml"/><Relationship Id="rId48" Type="http://schemas.openxmlformats.org/officeDocument/2006/relationships/image" Target="../media/image19.png"/><Relationship Id="rId47" Type="http://schemas.openxmlformats.org/officeDocument/2006/relationships/tags" Target="../tags/tag113.xml"/><Relationship Id="rId46" Type="http://schemas.openxmlformats.org/officeDocument/2006/relationships/tags" Target="../tags/tag112.xml"/><Relationship Id="rId45" Type="http://schemas.openxmlformats.org/officeDocument/2006/relationships/image" Target="../media/image18.png"/><Relationship Id="rId44" Type="http://schemas.openxmlformats.org/officeDocument/2006/relationships/image" Target="../media/image17.png"/><Relationship Id="rId43" Type="http://schemas.openxmlformats.org/officeDocument/2006/relationships/image" Target="../media/image16.png"/><Relationship Id="rId42" Type="http://schemas.openxmlformats.org/officeDocument/2006/relationships/image" Target="../media/image15.png"/><Relationship Id="rId41" Type="http://schemas.openxmlformats.org/officeDocument/2006/relationships/image" Target="../media/image14.png"/><Relationship Id="rId40" Type="http://schemas.openxmlformats.org/officeDocument/2006/relationships/image" Target="../media/image13.png"/><Relationship Id="rId4" Type="http://schemas.openxmlformats.org/officeDocument/2006/relationships/tags" Target="../tags/tag83.xml"/><Relationship Id="rId39" Type="http://schemas.openxmlformats.org/officeDocument/2006/relationships/image" Target="../media/image12.png"/><Relationship Id="rId38" Type="http://schemas.openxmlformats.org/officeDocument/2006/relationships/image" Target="../media/image11.png"/><Relationship Id="rId37" Type="http://schemas.openxmlformats.org/officeDocument/2006/relationships/image" Target="../media/image10.png"/><Relationship Id="rId36" Type="http://schemas.openxmlformats.org/officeDocument/2006/relationships/image" Target="../media/image9.png"/><Relationship Id="rId35" Type="http://schemas.openxmlformats.org/officeDocument/2006/relationships/image" Target="../media/image8.png"/><Relationship Id="rId34" Type="http://schemas.openxmlformats.org/officeDocument/2006/relationships/image" Target="../media/image7.png"/><Relationship Id="rId33" Type="http://schemas.openxmlformats.org/officeDocument/2006/relationships/image" Target="../media/image6.png"/><Relationship Id="rId32" Type="http://schemas.openxmlformats.org/officeDocument/2006/relationships/tags" Target="../tags/tag111.xml"/><Relationship Id="rId31" Type="http://schemas.openxmlformats.org/officeDocument/2006/relationships/tags" Target="../tags/tag110.xml"/><Relationship Id="rId30" Type="http://schemas.openxmlformats.org/officeDocument/2006/relationships/tags" Target="../tags/tag109.xml"/><Relationship Id="rId3" Type="http://schemas.openxmlformats.org/officeDocument/2006/relationships/tags" Target="../tags/tag82.xml"/><Relationship Id="rId29" Type="http://schemas.openxmlformats.org/officeDocument/2006/relationships/tags" Target="../tags/tag108.xml"/><Relationship Id="rId28" Type="http://schemas.openxmlformats.org/officeDocument/2006/relationships/tags" Target="../tags/tag107.xml"/><Relationship Id="rId27" Type="http://schemas.openxmlformats.org/officeDocument/2006/relationships/tags" Target="../tags/tag106.xml"/><Relationship Id="rId26" Type="http://schemas.openxmlformats.org/officeDocument/2006/relationships/tags" Target="../tags/tag105.xml"/><Relationship Id="rId25" Type="http://schemas.openxmlformats.org/officeDocument/2006/relationships/tags" Target="../tags/tag104.xml"/><Relationship Id="rId24" Type="http://schemas.openxmlformats.org/officeDocument/2006/relationships/tags" Target="../tags/tag103.xml"/><Relationship Id="rId23" Type="http://schemas.openxmlformats.org/officeDocument/2006/relationships/tags" Target="../tags/tag102.xml"/><Relationship Id="rId22" Type="http://schemas.openxmlformats.org/officeDocument/2006/relationships/tags" Target="../tags/tag101.xml"/><Relationship Id="rId21" Type="http://schemas.openxmlformats.org/officeDocument/2006/relationships/tags" Target="../tags/tag100.xml"/><Relationship Id="rId20" Type="http://schemas.openxmlformats.org/officeDocument/2006/relationships/tags" Target="../tags/tag99.xml"/><Relationship Id="rId2" Type="http://schemas.openxmlformats.org/officeDocument/2006/relationships/tags" Target="../tags/tag81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 descr="触屏首图"/>
          <p:cNvPicPr>
            <a:picLocks noChangeAspect="1"/>
          </p:cNvPicPr>
          <p:nvPr/>
        </p:nvPicPr>
        <p:blipFill>
          <a:blip r:embed="rId1"/>
          <a:srcRect l="5051" t="17654" b="27181"/>
          <a:stretch>
            <a:fillRect/>
          </a:stretch>
        </p:blipFill>
        <p:spPr>
          <a:xfrm>
            <a:off x="-308610" y="635"/>
            <a:ext cx="12552045" cy="880364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-308610" y="-119380"/>
            <a:ext cx="7296150" cy="8807450"/>
          </a:xfrm>
          <a:prstGeom prst="rect">
            <a:avLst/>
          </a:prstGeom>
          <a:gradFill>
            <a:gsLst>
              <a:gs pos="14000">
                <a:schemeClr val="tx1">
                  <a:lumMod val="66000"/>
                  <a:lumOff val="34000"/>
                </a:schemeClr>
              </a:gs>
              <a:gs pos="100000">
                <a:schemeClr val="tx1">
                  <a:alpha val="0"/>
                  <a:lumMod val="77000"/>
                  <a:lumOff val="23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pic>
        <p:nvPicPr>
          <p:cNvPr id="10" name="图片 9" descr="urovo_反白版"/>
          <p:cNvPicPr>
            <a:picLocks noChangeAspect="1"/>
          </p:cNvPicPr>
          <p:nvPr/>
        </p:nvPicPr>
        <p:blipFill>
          <a:blip r:embed="rId2"/>
          <a:srcRect l="18519" r="18612" b="18911"/>
          <a:stretch>
            <a:fillRect/>
          </a:stretch>
        </p:blipFill>
        <p:spPr>
          <a:xfrm>
            <a:off x="302260" y="137795"/>
            <a:ext cx="2338705" cy="1241425"/>
          </a:xfrm>
          <a:prstGeom prst="rect">
            <a:avLst/>
          </a:prstGeom>
        </p:spPr>
      </p:pic>
      <p:sp>
        <p:nvSpPr>
          <p:cNvPr id="143" name="文本框 142"/>
          <p:cNvSpPr txBox="1"/>
          <p:nvPr>
            <p:custDataLst>
              <p:tags r:id="rId3"/>
            </p:custDataLst>
          </p:nvPr>
        </p:nvSpPr>
        <p:spPr>
          <a:xfrm>
            <a:off x="639445" y="1482725"/>
            <a:ext cx="6938010" cy="662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5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U100</a:t>
            </a:r>
            <a:r>
              <a:rPr sz="5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endParaRPr sz="5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6" name="文本框 155"/>
          <p:cNvSpPr txBox="1"/>
          <p:nvPr>
            <p:custDataLst>
              <p:tags r:id="rId4"/>
            </p:custDataLst>
          </p:nvPr>
        </p:nvSpPr>
        <p:spPr>
          <a:xfrm>
            <a:off x="639445" y="2294255"/>
            <a:ext cx="6938010" cy="6623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uFillTx/>
                <a:sym typeface="+mn-ea"/>
              </a:rPr>
              <a:t>Price Checker</a:t>
            </a:r>
            <a:endParaRPr lang="en-US" altLang="zh-CN" sz="2800" b="1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57" name="组合 156"/>
          <p:cNvGrpSpPr/>
          <p:nvPr>
            <p:custDataLst>
              <p:tags r:id="rId5"/>
            </p:custDataLst>
          </p:nvPr>
        </p:nvGrpSpPr>
        <p:grpSpPr>
          <a:xfrm>
            <a:off x="527685" y="2979420"/>
            <a:ext cx="6178550" cy="820420"/>
            <a:chOff x="1284" y="4456"/>
            <a:chExt cx="9730" cy="1292"/>
          </a:xfrm>
        </p:grpSpPr>
        <p:sp>
          <p:nvSpPr>
            <p:cNvPr id="158" name="文本框 157"/>
            <p:cNvSpPr txBox="1"/>
            <p:nvPr>
              <p:custDataLst>
                <p:tags r:id="rId6"/>
              </p:custDataLst>
            </p:nvPr>
          </p:nvSpPr>
          <p:spPr>
            <a:xfrm>
              <a:off x="1284" y="4456"/>
              <a:ext cx="8660" cy="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Slim Design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9" name="文本框 158"/>
            <p:cNvSpPr txBox="1"/>
            <p:nvPr>
              <p:custDataLst>
                <p:tags r:id="rId7"/>
              </p:custDataLst>
            </p:nvPr>
          </p:nvSpPr>
          <p:spPr>
            <a:xfrm>
              <a:off x="1704" y="4820"/>
              <a:ext cx="9310" cy="92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10.1’’display with less than half the thickness of a traditional price checker yet fully functional with a 30-degree scanning angle 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160" name="组合 159"/>
          <p:cNvGrpSpPr/>
          <p:nvPr>
            <p:custDataLst>
              <p:tags r:id="rId8"/>
            </p:custDataLst>
          </p:nvPr>
        </p:nvGrpSpPr>
        <p:grpSpPr>
          <a:xfrm>
            <a:off x="527685" y="3794125"/>
            <a:ext cx="6178166" cy="780415"/>
            <a:chOff x="1284" y="5429"/>
            <a:chExt cx="11446" cy="1229"/>
          </a:xfrm>
        </p:grpSpPr>
        <p:sp>
          <p:nvSpPr>
            <p:cNvPr id="161" name="文本框 160"/>
            <p:cNvSpPr txBox="1"/>
            <p:nvPr>
              <p:custDataLst>
                <p:tags r:id="rId9"/>
              </p:custDataLst>
            </p:nvPr>
          </p:nvSpPr>
          <p:spPr>
            <a:xfrm>
              <a:off x="1284" y="5429"/>
              <a:ext cx="8660" cy="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Powerful Platform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2" name="文本框 161"/>
            <p:cNvSpPr txBox="1"/>
            <p:nvPr>
              <p:custDataLst>
                <p:tags r:id="rId10"/>
              </p:custDataLst>
            </p:nvPr>
          </p:nvSpPr>
          <p:spPr>
            <a:xfrm>
              <a:off x="1775" y="5897"/>
              <a:ext cx="10955" cy="7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Powered by the Android 13 O.S and a Quad-core A53 2.0GHz processor, alongside with 3GB RAM and 32GB ROM of ample memory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163" name="组合 162"/>
          <p:cNvGrpSpPr/>
          <p:nvPr>
            <p:custDataLst>
              <p:tags r:id="rId11"/>
            </p:custDataLst>
          </p:nvPr>
        </p:nvGrpSpPr>
        <p:grpSpPr>
          <a:xfrm>
            <a:off x="527685" y="4678680"/>
            <a:ext cx="6178550" cy="844550"/>
            <a:chOff x="1284" y="9039"/>
            <a:chExt cx="9730" cy="1330"/>
          </a:xfrm>
        </p:grpSpPr>
        <p:sp>
          <p:nvSpPr>
            <p:cNvPr id="164" name="文本框 163"/>
            <p:cNvSpPr txBox="1"/>
            <p:nvPr>
              <p:custDataLst>
                <p:tags r:id="rId12"/>
              </p:custDataLst>
            </p:nvPr>
          </p:nvSpPr>
          <p:spPr>
            <a:xfrm>
              <a:off x="1284" y="9039"/>
              <a:ext cx="9111" cy="6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chemeClr val="bg1"/>
                  </a:solidFill>
                  <a:sym typeface="+mn-ea"/>
                </a:rPr>
                <a:t>Proximity Sensing Wake-up</a:t>
              </a:r>
              <a:endParaRPr lang="en-US" altLang="zh-CN" sz="1400" b="1" dirty="0">
                <a:solidFill>
                  <a:schemeClr val="bg1"/>
                </a:solidFill>
                <a:sym typeface="+mn-ea"/>
              </a:endParaRPr>
            </a:p>
          </p:txBody>
        </p:sp>
        <p:sp>
          <p:nvSpPr>
            <p:cNvPr id="165" name="文本框 164"/>
            <p:cNvSpPr txBox="1"/>
            <p:nvPr>
              <p:custDataLst>
                <p:tags r:id="rId13"/>
              </p:custDataLst>
            </p:nvPr>
          </p:nvSpPr>
          <p:spPr>
            <a:xfrm>
              <a:off x="1704" y="9529"/>
              <a:ext cx="9310" cy="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Microwave radar and 8MP autofocus camera enables presence detection and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  <a:p>
              <a:pPr indent="0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facial recognition that can automatically wakes the display</a:t>
              </a:r>
              <a:endPara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>
            <p:custDataLst>
              <p:tags r:id="rId14"/>
            </p:custDataLst>
          </p:nvPr>
        </p:nvGrpSpPr>
        <p:grpSpPr>
          <a:xfrm>
            <a:off x="527685" y="5591175"/>
            <a:ext cx="6775450" cy="1035685"/>
            <a:chOff x="1284" y="8959"/>
            <a:chExt cx="10670" cy="1631"/>
          </a:xfrm>
        </p:grpSpPr>
        <p:sp>
          <p:nvSpPr>
            <p:cNvPr id="8" name="文本框 7"/>
            <p:cNvSpPr txBox="1"/>
            <p:nvPr>
              <p:custDataLst>
                <p:tags r:id="rId15"/>
              </p:custDataLst>
            </p:nvPr>
          </p:nvSpPr>
          <p:spPr>
            <a:xfrm>
              <a:off x="1284" y="8959"/>
              <a:ext cx="9111" cy="6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Easy Deployment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16"/>
              </p:custDataLst>
            </p:nvPr>
          </p:nvSpPr>
          <p:spPr>
            <a:xfrm>
              <a:off x="1704" y="9401"/>
              <a:ext cx="10250" cy="11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Compatible with quick-hitch bracket and standard VESA mounts, supporting both wall-mounted and desktop installation. LAN with optional PoE, USB, and serial interfaces, enable seamless integration with existing systems and peripherals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9293225" y="5819140"/>
            <a:ext cx="2691765" cy="2070735"/>
          </a:xfrm>
          <a:prstGeom prst="round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461500" y="7503795"/>
            <a:ext cx="2468245" cy="29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 dirty="0">
                <a:solidFill>
                  <a:srgbClr val="00B0F0"/>
                </a:solidFill>
                <a:sym typeface="+mn-ea"/>
              </a:rPr>
              <a:t>UHF RFID Module Optional </a:t>
            </a:r>
            <a:endParaRPr lang="en-US" altLang="zh-CN" sz="1400" b="1" dirty="0">
              <a:solidFill>
                <a:srgbClr val="00B0F0"/>
              </a:solidFill>
              <a:sym typeface="+mn-ea"/>
            </a:endParaRPr>
          </a:p>
        </p:txBody>
      </p:sp>
      <p:pic>
        <p:nvPicPr>
          <p:cNvPr id="17" name="图片 16" descr="图片2"/>
          <p:cNvPicPr>
            <a:picLocks noChangeAspect="1"/>
          </p:cNvPicPr>
          <p:nvPr/>
        </p:nvPicPr>
        <p:blipFill>
          <a:blip r:embed="rId17"/>
          <a:srcRect l="29322" t="28597" r="25854" b="1398"/>
          <a:stretch>
            <a:fillRect/>
          </a:stretch>
        </p:blipFill>
        <p:spPr>
          <a:xfrm>
            <a:off x="9526905" y="5886450"/>
            <a:ext cx="2230755" cy="1724660"/>
          </a:xfrm>
          <a:prstGeom prst="rect">
            <a:avLst/>
          </a:prstGeom>
        </p:spPr>
      </p:pic>
      <p:pic>
        <p:nvPicPr>
          <p:cNvPr id="3" name="图片 2" descr="衣服UI-(2)(1)"/>
          <p:cNvPicPr>
            <a:picLocks noChangeAspect="1"/>
          </p:cNvPicPr>
          <p:nvPr/>
        </p:nvPicPr>
        <p:blipFill>
          <a:blip r:embed="rId18">
            <a:lum bright="6000"/>
          </a:blip>
          <a:srcRect l="15625" t="23457" r="17627" b="24521"/>
          <a:stretch>
            <a:fillRect/>
          </a:stretch>
        </p:blipFill>
        <p:spPr>
          <a:xfrm>
            <a:off x="6538595" y="1172845"/>
            <a:ext cx="5672455" cy="44424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520305" y="4624705"/>
            <a:ext cx="1338580" cy="69342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>
            <p:custDataLst>
              <p:tags r:id="rId19"/>
            </p:custDataLst>
          </p:nvPr>
        </p:nvGrpSpPr>
        <p:grpSpPr>
          <a:xfrm>
            <a:off x="527685" y="6716395"/>
            <a:ext cx="6567805" cy="814070"/>
            <a:chOff x="1284" y="8401"/>
            <a:chExt cx="10343" cy="1282"/>
          </a:xfrm>
        </p:grpSpPr>
        <p:sp>
          <p:nvSpPr>
            <p:cNvPr id="6" name="文本框 5"/>
            <p:cNvSpPr txBox="1"/>
            <p:nvPr>
              <p:custDataLst>
                <p:tags r:id="rId20"/>
              </p:custDataLst>
            </p:nvPr>
          </p:nvSpPr>
          <p:spPr>
            <a:xfrm>
              <a:off x="1284" y="8401"/>
              <a:ext cx="9111" cy="6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Multi-Method Data Capture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21"/>
              </p:custDataLst>
            </p:nvPr>
          </p:nvSpPr>
          <p:spPr>
            <a:xfrm>
              <a:off x="1774" y="8843"/>
              <a:ext cx="9853" cy="8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0000"/>
                </a:lnSpc>
                <a:buClrTx/>
                <a:buSzTx/>
                <a:buFont typeface="Arial" panose="020B0604020202020204" pitchFamily="34" charset="0"/>
              </a:pPr>
              <a:r>
                <a:rPr lang="en-US" altLang="zh-CN" sz="12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Provided by an integrated scanner and an optional RFID. Build-in NFC enables quick recognition of various card types</a:t>
              </a:r>
              <a:endPara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8813165" y="4483735"/>
            <a:ext cx="1260000" cy="36000"/>
          </a:xfrm>
          <a:prstGeom prst="rect">
            <a:avLst/>
          </a:prstGeom>
          <a:solidFill>
            <a:srgbClr val="34A67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1" y="0"/>
            <a:ext cx="12181592" cy="8758555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" name="图片 149" descr="SVGID_1_"/>
          <p:cNvPicPr>
            <a:picLocks noChangeAspect="1"/>
          </p:cNvPicPr>
          <p:nvPr/>
        </p:nvPicPr>
        <p:blipFill>
          <a:blip r:embed="rId1">
            <a:lum contrast="-54000"/>
          </a:blip>
          <a:stretch>
            <a:fillRect/>
          </a:stretch>
        </p:blipFill>
        <p:spPr>
          <a:xfrm>
            <a:off x="2152300" y="-48891"/>
            <a:ext cx="8411870" cy="8926818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2"/>
            </p:custDataLst>
          </p:nvPr>
        </p:nvSpPr>
        <p:spPr>
          <a:xfrm>
            <a:off x="9146953" y="7601034"/>
            <a:ext cx="2341710" cy="5251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r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*This page is subject to change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r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without prior notice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517928" y="7543888"/>
            <a:ext cx="10966925" cy="1650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350935" y="407005"/>
            <a:ext cx="6737496" cy="2380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U100</a:t>
            </a:r>
            <a:r>
              <a:rPr lang="en-US" altLang="zh-CN" sz="2400" b="1">
                <a:solidFill>
                  <a:schemeClr val="bg2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uFillTx/>
                <a:sym typeface="+mn-ea"/>
              </a:rPr>
              <a:t>Price Checker</a:t>
            </a:r>
            <a:endParaRPr lang="en-US" altLang="zh-CN" sz="2400" b="1">
              <a:solidFill>
                <a:schemeClr val="bg1"/>
              </a:solidFill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000" b="1">
              <a:solidFill>
                <a:schemeClr val="bg1"/>
              </a:solidFill>
              <a:ea typeface="微软雅黑" panose="020B0503020204020204" charset="-122"/>
              <a:cs typeface="+mn-lt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000" b="1">
              <a:solidFill>
                <a:schemeClr val="bg1"/>
              </a:solidFill>
              <a:ea typeface="微软雅黑" panose="020B0503020204020204" charset="-122"/>
              <a:cs typeface="+mn-lt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 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9" name="文本框 68"/>
          <p:cNvSpPr txBox="1"/>
          <p:nvPr>
            <p:custDataLst>
              <p:tags r:id="rId3"/>
            </p:custDataLst>
          </p:nvPr>
        </p:nvSpPr>
        <p:spPr>
          <a:xfrm>
            <a:off x="771910" y="1927720"/>
            <a:ext cx="2183607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Processor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0" name="文本框 69"/>
          <p:cNvSpPr txBox="1"/>
          <p:nvPr>
            <p:custDataLst>
              <p:tags r:id="rId4"/>
            </p:custDataLst>
          </p:nvPr>
        </p:nvSpPr>
        <p:spPr>
          <a:xfrm>
            <a:off x="771910" y="2223609"/>
            <a:ext cx="1414677" cy="32255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Quad-core A53 2.0GHz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1" name="文本框 70"/>
          <p:cNvSpPr txBox="1"/>
          <p:nvPr>
            <p:custDataLst>
              <p:tags r:id="rId5"/>
            </p:custDataLst>
          </p:nvPr>
        </p:nvSpPr>
        <p:spPr>
          <a:xfrm>
            <a:off x="3406334" y="1927720"/>
            <a:ext cx="1092756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O.S.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6"/>
            </p:custDataLst>
          </p:nvPr>
        </p:nvSpPr>
        <p:spPr>
          <a:xfrm>
            <a:off x="3406334" y="2223609"/>
            <a:ext cx="1765172" cy="358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Android 13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3" name="文本框 72"/>
          <p:cNvSpPr txBox="1"/>
          <p:nvPr>
            <p:custDataLst>
              <p:tags r:id="rId7"/>
            </p:custDataLst>
          </p:nvPr>
        </p:nvSpPr>
        <p:spPr>
          <a:xfrm>
            <a:off x="5785506" y="1927720"/>
            <a:ext cx="2183607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Memory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4" name="文本框 73"/>
          <p:cNvSpPr txBox="1"/>
          <p:nvPr>
            <p:custDataLst>
              <p:tags r:id="rId8"/>
            </p:custDataLst>
          </p:nvPr>
        </p:nvSpPr>
        <p:spPr>
          <a:xfrm>
            <a:off x="5785506" y="2223609"/>
            <a:ext cx="2390602" cy="6825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RAM: 3GB  ROM: 32GB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9"/>
            </p:custDataLst>
          </p:nvPr>
        </p:nvSpPr>
        <p:spPr>
          <a:xfrm>
            <a:off x="3406334" y="5583785"/>
            <a:ext cx="2183607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Environmental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5" name="文本框 84"/>
          <p:cNvSpPr txBox="1"/>
          <p:nvPr>
            <p:custDataLst>
              <p:tags r:id="rId10"/>
            </p:custDataLst>
          </p:nvPr>
        </p:nvSpPr>
        <p:spPr>
          <a:xfrm>
            <a:off x="3406334" y="5871419"/>
            <a:ext cx="1907402" cy="9689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Operating: -10</a:t>
            </a:r>
            <a:r>
              <a:rPr lang="en-US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℃</a:t>
            </a: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~55</a:t>
            </a:r>
            <a:r>
              <a:rPr lang="en-US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℃</a:t>
            </a:r>
            <a:endParaRPr lang="en-US" altLang="en-US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Storage: -20</a:t>
            </a:r>
            <a:r>
              <a:rPr lang="en-US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℃</a:t>
            </a:r>
            <a:r>
              <a:rPr lang="zh-CN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～</a:t>
            </a: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70</a:t>
            </a:r>
            <a:r>
              <a:rPr lang="en-US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℃</a:t>
            </a:r>
            <a:endParaRPr lang="en-US" altLang="en-US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Humidity: 5%RH</a:t>
            </a:r>
            <a:r>
              <a:rPr lang="zh-CN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～</a:t>
            </a: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95%RH (No condensation)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6" name="文本框 85"/>
          <p:cNvSpPr txBox="1"/>
          <p:nvPr>
            <p:custDataLst>
              <p:tags r:id="rId11"/>
            </p:custDataLst>
          </p:nvPr>
        </p:nvSpPr>
        <p:spPr>
          <a:xfrm>
            <a:off x="771910" y="3056668"/>
            <a:ext cx="2183607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Interface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9" name="文本框 88"/>
          <p:cNvSpPr txBox="1"/>
          <p:nvPr>
            <p:custDataLst>
              <p:tags r:id="rId12"/>
            </p:custDataLst>
          </p:nvPr>
        </p:nvSpPr>
        <p:spPr>
          <a:xfrm>
            <a:off x="771910" y="3352557"/>
            <a:ext cx="1548653" cy="110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1x DC Jack Power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1x USB Type-C Debug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1x RJ45 LAN (PoE optional)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2x USB Type-A HOST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1x RS232 RJ11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0" name="文本框 89"/>
          <p:cNvSpPr txBox="1"/>
          <p:nvPr>
            <p:custDataLst>
              <p:tags r:id="rId13"/>
            </p:custDataLst>
          </p:nvPr>
        </p:nvSpPr>
        <p:spPr>
          <a:xfrm>
            <a:off x="10111448" y="1927720"/>
            <a:ext cx="1657865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Touch Screen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1" name="文本框 90"/>
          <p:cNvSpPr txBox="1"/>
          <p:nvPr>
            <p:custDataLst>
              <p:tags r:id="rId14"/>
            </p:custDataLst>
          </p:nvPr>
        </p:nvSpPr>
        <p:spPr>
          <a:xfrm>
            <a:off x="10111448" y="2223609"/>
            <a:ext cx="1797555" cy="8279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Ultra sensitive capacitive touch panel</a:t>
            </a:r>
            <a:endParaRPr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4" name="文本框 93"/>
          <p:cNvSpPr txBox="1"/>
          <p:nvPr>
            <p:custDataLst>
              <p:tags r:id="rId15"/>
            </p:custDataLst>
          </p:nvPr>
        </p:nvSpPr>
        <p:spPr>
          <a:xfrm>
            <a:off x="8286590" y="1927720"/>
            <a:ext cx="1657865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Display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97" name="文本框 96"/>
          <p:cNvSpPr txBox="1"/>
          <p:nvPr>
            <p:custDataLst>
              <p:tags r:id="rId16"/>
            </p:custDataLst>
          </p:nvPr>
        </p:nvSpPr>
        <p:spPr>
          <a:xfrm>
            <a:off x="8286590" y="2223609"/>
            <a:ext cx="1137838" cy="6825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10.1”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800x1280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0" name="文本框 99"/>
          <p:cNvSpPr txBox="1"/>
          <p:nvPr>
            <p:custDataLst>
              <p:tags r:id="rId17"/>
            </p:custDataLst>
          </p:nvPr>
        </p:nvSpPr>
        <p:spPr>
          <a:xfrm>
            <a:off x="3406334" y="3056668"/>
            <a:ext cx="1406423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Scanning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1" name="文本框 100"/>
          <p:cNvSpPr txBox="1"/>
          <p:nvPr>
            <p:custDataLst>
              <p:tags r:id="rId18"/>
            </p:custDataLst>
          </p:nvPr>
        </p:nvSpPr>
        <p:spPr>
          <a:xfrm>
            <a:off x="3406334" y="3352557"/>
            <a:ext cx="1764537" cy="110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Built-in scanner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Supporting 1D/2D barcode reading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2" name="文本框 101"/>
          <p:cNvSpPr txBox="1"/>
          <p:nvPr>
            <p:custDataLst>
              <p:tags r:id="rId19"/>
            </p:custDataLst>
          </p:nvPr>
        </p:nvSpPr>
        <p:spPr>
          <a:xfrm>
            <a:off x="8286590" y="3056668"/>
            <a:ext cx="2183607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Sensors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3" name="文本框 102"/>
          <p:cNvSpPr txBox="1"/>
          <p:nvPr>
            <p:custDataLst>
              <p:tags r:id="rId20"/>
            </p:custDataLst>
          </p:nvPr>
        </p:nvSpPr>
        <p:spPr>
          <a:xfrm>
            <a:off x="8286590" y="3352557"/>
            <a:ext cx="1386104" cy="6914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Presence Sensor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6" name="文本框 105"/>
          <p:cNvSpPr txBox="1"/>
          <p:nvPr>
            <p:custDataLst>
              <p:tags r:id="rId21"/>
            </p:custDataLst>
          </p:nvPr>
        </p:nvSpPr>
        <p:spPr>
          <a:xfrm>
            <a:off x="5785506" y="3050954"/>
            <a:ext cx="1414042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Camera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7" name="文本框 106"/>
          <p:cNvSpPr txBox="1"/>
          <p:nvPr>
            <p:custDataLst>
              <p:tags r:id="rId22"/>
            </p:custDataLst>
          </p:nvPr>
        </p:nvSpPr>
        <p:spPr>
          <a:xfrm>
            <a:off x="5785506" y="3346842"/>
            <a:ext cx="2026138" cy="110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8MP AF camera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8" name="文本框 107"/>
          <p:cNvSpPr txBox="1"/>
          <p:nvPr>
            <p:custDataLst>
              <p:tags r:id="rId23"/>
            </p:custDataLst>
          </p:nvPr>
        </p:nvSpPr>
        <p:spPr>
          <a:xfrm>
            <a:off x="3406334" y="4304353"/>
            <a:ext cx="1414042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Buttons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09" name="文本框 108"/>
          <p:cNvSpPr txBox="1"/>
          <p:nvPr>
            <p:custDataLst>
              <p:tags r:id="rId24"/>
            </p:custDataLst>
          </p:nvPr>
        </p:nvSpPr>
        <p:spPr>
          <a:xfrm>
            <a:off x="3406334" y="4600241"/>
            <a:ext cx="1488967" cy="6336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PWR button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25"/>
            </p:custDataLst>
          </p:nvPr>
        </p:nvSpPr>
        <p:spPr>
          <a:xfrm>
            <a:off x="5785506" y="4304353"/>
            <a:ext cx="1414042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Slots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1" name="文本框 110"/>
          <p:cNvSpPr txBox="1"/>
          <p:nvPr>
            <p:custDataLst>
              <p:tags r:id="rId26"/>
            </p:custDataLst>
          </p:nvPr>
        </p:nvSpPr>
        <p:spPr>
          <a:xfrm>
            <a:off x="5785506" y="4600241"/>
            <a:ext cx="1553732" cy="110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1 MicroSD and 2 SAM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2" name="文本框 111"/>
          <p:cNvSpPr txBox="1"/>
          <p:nvPr>
            <p:custDataLst>
              <p:tags r:id="rId27"/>
            </p:custDataLst>
          </p:nvPr>
        </p:nvSpPr>
        <p:spPr>
          <a:xfrm>
            <a:off x="771910" y="5583785"/>
            <a:ext cx="1991851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Communication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3" name="文本框 112"/>
          <p:cNvSpPr txBox="1"/>
          <p:nvPr>
            <p:custDataLst>
              <p:tags r:id="rId28"/>
            </p:custDataLst>
          </p:nvPr>
        </p:nvSpPr>
        <p:spPr>
          <a:xfrm>
            <a:off x="771910" y="5871419"/>
            <a:ext cx="2532831" cy="1102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4G/3G/2G: N/A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Bluetooth</a:t>
            </a:r>
            <a:r>
              <a:rPr lang="zh-CN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BT 5.0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Wi-Fi</a:t>
            </a:r>
            <a:r>
              <a:rPr lang="zh-CN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：</a:t>
            </a: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IEEE 802.11 a/b/g/n/ac 2.4GHz/5GHz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6" name="文本框 115"/>
          <p:cNvSpPr txBox="1"/>
          <p:nvPr>
            <p:custDataLst>
              <p:tags r:id="rId29"/>
            </p:custDataLst>
          </p:nvPr>
        </p:nvSpPr>
        <p:spPr>
          <a:xfrm>
            <a:off x="746468" y="4304353"/>
            <a:ext cx="1414042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Adaptor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7" name="文本框 116"/>
          <p:cNvSpPr txBox="1"/>
          <p:nvPr>
            <p:custDataLst>
              <p:tags r:id="rId30"/>
            </p:custDataLst>
          </p:nvPr>
        </p:nvSpPr>
        <p:spPr>
          <a:xfrm>
            <a:off x="746468" y="4600241"/>
            <a:ext cx="1840097" cy="68829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12V/2A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8" name="文本框 117"/>
          <p:cNvSpPr txBox="1"/>
          <p:nvPr>
            <p:custDataLst>
              <p:tags r:id="rId31"/>
            </p:custDataLst>
          </p:nvPr>
        </p:nvSpPr>
        <p:spPr>
          <a:xfrm>
            <a:off x="10111448" y="3050954"/>
            <a:ext cx="2183607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Audio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9" name="文本框 118"/>
          <p:cNvSpPr txBox="1"/>
          <p:nvPr>
            <p:custDataLst>
              <p:tags r:id="rId32"/>
            </p:custDataLst>
          </p:nvPr>
        </p:nvSpPr>
        <p:spPr>
          <a:xfrm>
            <a:off x="10111448" y="3346842"/>
            <a:ext cx="1796920" cy="6965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Speaker(3W), MIC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20" name="object 11"/>
          <p:cNvPicPr/>
          <p:nvPr/>
        </p:nvPicPr>
        <p:blipFill>
          <a:blip r:embed="rId33" cstate="print">
            <a:lum bright="100000" contrast="-30000"/>
          </a:blip>
          <a:stretch>
            <a:fillRect/>
          </a:stretch>
        </p:blipFill>
        <p:spPr>
          <a:xfrm>
            <a:off x="417606" y="1935975"/>
            <a:ext cx="227314" cy="226044"/>
          </a:xfrm>
          <a:prstGeom prst="rect">
            <a:avLst/>
          </a:prstGeom>
        </p:spPr>
      </p:pic>
      <p:pic>
        <p:nvPicPr>
          <p:cNvPr id="121" name="object 21"/>
          <p:cNvPicPr/>
          <p:nvPr/>
        </p:nvPicPr>
        <p:blipFill>
          <a:blip r:embed="rId34" cstate="print">
            <a:lum bright="100000" contrast="-30000"/>
          </a:blip>
          <a:stretch>
            <a:fillRect/>
          </a:stretch>
        </p:blipFill>
        <p:spPr>
          <a:xfrm>
            <a:off x="3111715" y="4291654"/>
            <a:ext cx="204455" cy="204455"/>
          </a:xfrm>
          <a:prstGeom prst="rect">
            <a:avLst/>
          </a:prstGeom>
        </p:spPr>
      </p:pic>
      <p:pic>
        <p:nvPicPr>
          <p:cNvPr id="123" name="object 41"/>
          <p:cNvPicPr/>
          <p:nvPr/>
        </p:nvPicPr>
        <p:blipFill>
          <a:blip r:embed="rId35" cstate="print">
            <a:lum bright="100000" contrast="-30000"/>
          </a:blip>
          <a:stretch>
            <a:fillRect/>
          </a:stretch>
        </p:blipFill>
        <p:spPr>
          <a:xfrm>
            <a:off x="467767" y="5590770"/>
            <a:ext cx="188581" cy="205725"/>
          </a:xfrm>
          <a:prstGeom prst="rect">
            <a:avLst/>
          </a:prstGeom>
        </p:spPr>
      </p:pic>
      <p:pic>
        <p:nvPicPr>
          <p:cNvPr id="125" name="object 20"/>
          <p:cNvPicPr/>
          <p:nvPr/>
        </p:nvPicPr>
        <p:blipFill>
          <a:blip r:embed="rId36" cstate="print">
            <a:lum bright="100000" contrast="-30000"/>
          </a:blip>
          <a:stretch>
            <a:fillRect/>
          </a:stretch>
        </p:blipFill>
        <p:spPr>
          <a:xfrm>
            <a:off x="9788256" y="3067463"/>
            <a:ext cx="212710" cy="200645"/>
          </a:xfrm>
          <a:prstGeom prst="rect">
            <a:avLst/>
          </a:prstGeom>
        </p:spPr>
      </p:pic>
      <p:pic>
        <p:nvPicPr>
          <p:cNvPr id="126" name="object 22"/>
          <p:cNvPicPr/>
          <p:nvPr/>
        </p:nvPicPr>
        <p:blipFill>
          <a:blip r:embed="rId37" cstate="print">
            <a:lum bright="100000" contrast="-30000"/>
          </a:blip>
          <a:stretch>
            <a:fillRect/>
          </a:stretch>
        </p:blipFill>
        <p:spPr>
          <a:xfrm>
            <a:off x="3134574" y="3070637"/>
            <a:ext cx="181597" cy="181597"/>
          </a:xfrm>
          <a:prstGeom prst="rect">
            <a:avLst/>
          </a:prstGeom>
        </p:spPr>
      </p:pic>
      <p:pic>
        <p:nvPicPr>
          <p:cNvPr id="127" name="object 23"/>
          <p:cNvPicPr/>
          <p:nvPr/>
        </p:nvPicPr>
        <p:blipFill>
          <a:blip r:embed="rId38" cstate="print">
            <a:lum bright="100000" contrast="-30000"/>
          </a:blip>
          <a:stretch>
            <a:fillRect/>
          </a:stretch>
        </p:blipFill>
        <p:spPr>
          <a:xfrm>
            <a:off x="3142828" y="1915021"/>
            <a:ext cx="160643" cy="239378"/>
          </a:xfrm>
          <a:prstGeom prst="rect">
            <a:avLst/>
          </a:prstGeom>
        </p:spPr>
      </p:pic>
      <p:pic>
        <p:nvPicPr>
          <p:cNvPr id="128" name="object 24"/>
          <p:cNvPicPr/>
          <p:nvPr/>
        </p:nvPicPr>
        <p:blipFill>
          <a:blip r:embed="rId39" cstate="print">
            <a:lum bright="100000" contrast="-30000"/>
          </a:blip>
          <a:stretch>
            <a:fillRect/>
          </a:stretch>
        </p:blipFill>
        <p:spPr>
          <a:xfrm>
            <a:off x="8007210" y="1958833"/>
            <a:ext cx="206360" cy="181597"/>
          </a:xfrm>
          <a:prstGeom prst="rect">
            <a:avLst/>
          </a:prstGeom>
        </p:spPr>
      </p:pic>
      <p:pic>
        <p:nvPicPr>
          <p:cNvPr id="129" name="object 35"/>
          <p:cNvPicPr/>
          <p:nvPr/>
        </p:nvPicPr>
        <p:blipFill>
          <a:blip r:embed="rId40" cstate="print">
            <a:lum bright="100000" contrast="-30000"/>
          </a:blip>
          <a:stretch>
            <a:fillRect/>
          </a:stretch>
        </p:blipFill>
        <p:spPr>
          <a:xfrm>
            <a:off x="3153622" y="5585690"/>
            <a:ext cx="175247" cy="205725"/>
          </a:xfrm>
          <a:prstGeom prst="rect">
            <a:avLst/>
          </a:prstGeom>
        </p:spPr>
      </p:pic>
      <p:pic>
        <p:nvPicPr>
          <p:cNvPr id="131" name="object 40"/>
          <p:cNvPicPr/>
          <p:nvPr/>
        </p:nvPicPr>
        <p:blipFill>
          <a:blip r:embed="rId41" cstate="print">
            <a:lum bright="100000" contrast="-30000"/>
          </a:blip>
          <a:stretch>
            <a:fillRect/>
          </a:stretch>
        </p:blipFill>
        <p:spPr>
          <a:xfrm>
            <a:off x="5508031" y="4291654"/>
            <a:ext cx="180327" cy="200645"/>
          </a:xfrm>
          <a:prstGeom prst="rect">
            <a:avLst/>
          </a:prstGeom>
        </p:spPr>
      </p:pic>
      <p:pic>
        <p:nvPicPr>
          <p:cNvPr id="132" name="object 9"/>
          <p:cNvPicPr/>
          <p:nvPr/>
        </p:nvPicPr>
        <p:blipFill>
          <a:blip r:embed="rId42" cstate="print">
            <a:lum bright="100000" contrast="-30000"/>
          </a:blip>
          <a:stretch>
            <a:fillRect/>
          </a:stretch>
        </p:blipFill>
        <p:spPr>
          <a:xfrm>
            <a:off x="5495332" y="1965817"/>
            <a:ext cx="179692" cy="179692"/>
          </a:xfrm>
          <a:prstGeom prst="rect">
            <a:avLst/>
          </a:prstGeom>
        </p:spPr>
      </p:pic>
      <p:pic>
        <p:nvPicPr>
          <p:cNvPr id="133" name="object 29"/>
          <p:cNvPicPr/>
          <p:nvPr/>
        </p:nvPicPr>
        <p:blipFill>
          <a:blip r:embed="rId43" cstate="print">
            <a:lum bright="100000" contrast="-30000"/>
          </a:blip>
          <a:stretch>
            <a:fillRect/>
          </a:stretch>
        </p:blipFill>
        <p:spPr>
          <a:xfrm>
            <a:off x="9787621" y="1941054"/>
            <a:ext cx="188581" cy="226044"/>
          </a:xfrm>
          <a:prstGeom prst="rect">
            <a:avLst/>
          </a:prstGeom>
        </p:spPr>
      </p:pic>
      <p:pic>
        <p:nvPicPr>
          <p:cNvPr id="134" name="object 30"/>
          <p:cNvPicPr/>
          <p:nvPr/>
        </p:nvPicPr>
        <p:blipFill>
          <a:blip r:embed="rId44" cstate="print">
            <a:lum bright="100000" contrast="-30000"/>
          </a:blip>
          <a:stretch>
            <a:fillRect/>
          </a:stretch>
        </p:blipFill>
        <p:spPr>
          <a:xfrm>
            <a:off x="5478824" y="3051589"/>
            <a:ext cx="196201" cy="252077"/>
          </a:xfrm>
          <a:prstGeom prst="rect">
            <a:avLst/>
          </a:prstGeom>
        </p:spPr>
      </p:pic>
      <p:pic>
        <p:nvPicPr>
          <p:cNvPr id="136" name="图片 135" descr="设置"/>
          <p:cNvPicPr>
            <a:picLocks noChangeAspect="1"/>
          </p:cNvPicPr>
          <p:nvPr/>
        </p:nvPicPr>
        <p:blipFill>
          <a:blip r:embed="rId45">
            <a:lum bright="100000" contrast="-30000"/>
          </a:blip>
          <a:stretch>
            <a:fillRect/>
          </a:stretch>
        </p:blipFill>
        <p:spPr>
          <a:xfrm>
            <a:off x="7969113" y="3040160"/>
            <a:ext cx="259696" cy="259696"/>
          </a:xfrm>
          <a:prstGeom prst="rect">
            <a:avLst/>
          </a:prstGeom>
        </p:spPr>
      </p:pic>
      <p:sp>
        <p:nvSpPr>
          <p:cNvPr id="137" name="文本框 136"/>
          <p:cNvSpPr txBox="1"/>
          <p:nvPr/>
        </p:nvSpPr>
        <p:spPr>
          <a:xfrm>
            <a:off x="524913" y="7745168"/>
            <a:ext cx="4129106" cy="9568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buClrTx/>
              <a:buSzTx/>
              <a:buFontTx/>
            </a:pPr>
            <a:r>
              <a:rPr sz="1000" b="1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UROVO P</a:t>
            </a:r>
            <a:r>
              <a:rPr lang="en-US" sz="1000" b="1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T</a:t>
            </a:r>
            <a:r>
              <a:rPr sz="1000" b="1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E. LIMITED</a:t>
            </a:r>
            <a:endParaRPr lang="en-US"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Website: en.urovo.com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Email: urovo@urovo.com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Address: 1 Raffles Place, #21-01 One Raffles Place Tower 1, 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Singapore 048616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395592" y="7745168"/>
            <a:ext cx="4129106" cy="9568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buClrTx/>
              <a:buSzTx/>
              <a:buFontTx/>
            </a:pPr>
            <a:r>
              <a:rPr sz="1000" b="1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Urovo Europe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Website: europe.urovo.com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Email: sales-europe@urovo-emea.com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Address: de Maas 9, 5684PL, Best, the Netherlands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7889744" y="7745168"/>
            <a:ext cx="4129106" cy="9568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buClrTx/>
              <a:buSzTx/>
              <a:buFontTx/>
            </a:pPr>
            <a:r>
              <a:rPr sz="1000" b="1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Urovo </a:t>
            </a:r>
            <a:r>
              <a:rPr lang="en-US" sz="1000" b="1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North America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Website: us.urovo.com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Email: urovo@urovo.com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Address: 1990 Main Street, Suite 750, Sarasota, 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sz="900" kern="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</a:rPr>
              <a:t>Florida 34236</a:t>
            </a:r>
            <a:endParaRPr sz="900" kern="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350935" y="857823"/>
            <a:ext cx="6311442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Specifications</a:t>
            </a:r>
            <a:endParaRPr lang="en-US" altLang="zh-CN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43" name="文本框 142"/>
          <p:cNvSpPr txBox="1"/>
          <p:nvPr>
            <p:custDataLst>
              <p:tags r:id="rId46"/>
            </p:custDataLst>
          </p:nvPr>
        </p:nvSpPr>
        <p:spPr>
          <a:xfrm>
            <a:off x="10202385" y="4579829"/>
            <a:ext cx="3198263" cy="7308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Built-in NFC</a:t>
            </a:r>
            <a:endParaRPr lang="en-US" altLang="zh-CN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44" name="文本框 143"/>
          <p:cNvSpPr txBox="1"/>
          <p:nvPr>
            <p:custDataLst>
              <p:tags r:id="rId47"/>
            </p:custDataLst>
          </p:nvPr>
        </p:nvSpPr>
        <p:spPr>
          <a:xfrm>
            <a:off x="8303260" y="4592320"/>
            <a:ext cx="1882775" cy="3994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Short-range UHF</a:t>
            </a:r>
            <a:b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</a:br>
            <a:r>
              <a:rPr lang="zh-CN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Optional</a:t>
            </a:r>
            <a:r>
              <a:rPr lang="zh-CN" altLang="en-US" sz="900">
                <a:solidFill>
                  <a:schemeClr val="bg1"/>
                </a:solidFill>
                <a:uFillTx/>
                <a:latin typeface="Arial" panose="020B0604020202020204" pitchFamily="34" charset="0"/>
                <a:ea typeface="阿里巴巴普惠体 R" panose="00020600040101010101" charset="-122"/>
                <a:cs typeface="Arial" panose="020B0604020202020204" pitchFamily="34" charset="0"/>
                <a:sym typeface="+mn-ea"/>
              </a:rPr>
              <a:t>）</a:t>
            </a:r>
            <a:endParaRPr lang="zh-CN" altLang="en-US" sz="900">
              <a:solidFill>
                <a:schemeClr val="bg1"/>
              </a:solidFill>
              <a:uFillTx/>
              <a:latin typeface="Arial" panose="020B0604020202020204" pitchFamily="34" charset="0"/>
              <a:ea typeface="阿里巴巴普惠体 R" panose="00020600040101010101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45" name="图片 144" descr="nfc (2)"/>
          <p:cNvPicPr>
            <a:picLocks noChangeAspect="1"/>
          </p:cNvPicPr>
          <p:nvPr/>
        </p:nvPicPr>
        <p:blipFill>
          <a:blip r:embed="rId48">
            <a:lum bright="100000"/>
          </a:blip>
          <a:stretch>
            <a:fillRect/>
          </a:stretch>
        </p:blipFill>
        <p:spPr>
          <a:xfrm>
            <a:off x="9865224" y="4252193"/>
            <a:ext cx="295889" cy="295889"/>
          </a:xfrm>
          <a:prstGeom prst="rect">
            <a:avLst/>
          </a:prstGeom>
        </p:spPr>
      </p:pic>
      <p:sp>
        <p:nvSpPr>
          <p:cNvPr id="146" name="文本框 145"/>
          <p:cNvSpPr txBox="1"/>
          <p:nvPr>
            <p:custDataLst>
              <p:tags r:id="rId49"/>
            </p:custDataLst>
          </p:nvPr>
        </p:nvSpPr>
        <p:spPr>
          <a:xfrm>
            <a:off x="10202385" y="4292195"/>
            <a:ext cx="2183607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NFC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47" name="图片 146" descr="165-RFID (1)"/>
          <p:cNvPicPr>
            <a:picLocks noChangeAspect="1"/>
          </p:cNvPicPr>
          <p:nvPr/>
        </p:nvPicPr>
        <p:blipFill>
          <a:blip r:embed="rId50">
            <a:lum bright="100000"/>
          </a:blip>
          <a:stretch>
            <a:fillRect/>
          </a:stretch>
        </p:blipFill>
        <p:spPr>
          <a:xfrm>
            <a:off x="7919133" y="4209652"/>
            <a:ext cx="326366" cy="326366"/>
          </a:xfrm>
          <a:prstGeom prst="rect">
            <a:avLst/>
          </a:prstGeom>
        </p:spPr>
      </p:pic>
      <p:sp>
        <p:nvSpPr>
          <p:cNvPr id="148" name="文本框 147"/>
          <p:cNvSpPr txBox="1"/>
          <p:nvPr>
            <p:custDataLst>
              <p:tags r:id="rId51"/>
            </p:custDataLst>
          </p:nvPr>
        </p:nvSpPr>
        <p:spPr>
          <a:xfrm>
            <a:off x="8262641" y="4304895"/>
            <a:ext cx="1890893" cy="3822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lvl="0" algn="l">
              <a:buClrTx/>
              <a:buSzTx/>
              <a:buFontTx/>
              <a:buNone/>
            </a:pPr>
            <a:r>
              <a:rPr lang="en-US" altLang="zh-CN" sz="1400" b="1">
                <a:solidFill>
                  <a:schemeClr val="bg1"/>
                </a:solidFill>
                <a:latin typeface="Arial" panose="020B0604020202020204" pitchFamily="34" charset="0"/>
                <a:ea typeface="阿里巴巴普惠体 M" panose="00020600040101010101" charset="-122"/>
                <a:cs typeface="Arial" panose="020B0604020202020204" pitchFamily="34" charset="0"/>
                <a:sym typeface="+mn-ea"/>
              </a:rPr>
              <a:t>UHF RFID</a:t>
            </a:r>
            <a:endParaRPr lang="en-US" altLang="zh-CN" sz="1400" b="1">
              <a:solidFill>
                <a:schemeClr val="bg1"/>
              </a:solidFill>
              <a:latin typeface="Arial" panose="020B0604020202020204" pitchFamily="34" charset="0"/>
              <a:ea typeface="阿里巴巴普惠体 M" panose="00020600040101010101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4" name="图片 13" descr="urovo_反白版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424428" y="-48895"/>
            <a:ext cx="3156356" cy="1299116"/>
          </a:xfrm>
          <a:prstGeom prst="rect">
            <a:avLst/>
          </a:prstGeom>
        </p:spPr>
      </p:pic>
      <p:pic>
        <p:nvPicPr>
          <p:cNvPr id="25" name="图片 24" descr="9连接器与适配器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22910" y="4291654"/>
            <a:ext cx="288290" cy="288290"/>
          </a:xfrm>
          <a:prstGeom prst="rect">
            <a:avLst/>
          </a:prstGeom>
        </p:spPr>
      </p:pic>
      <p:pic>
        <p:nvPicPr>
          <p:cNvPr id="3" name="图片 2" descr="接口"/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43535" y="3004185"/>
            <a:ext cx="271145" cy="271145"/>
          </a:xfrm>
          <a:prstGeom prst="rect">
            <a:avLst/>
          </a:prstGeom>
        </p:spPr>
      </p:pic>
    </p:spTree>
    <p:custDataLst>
      <p:tags r:id="rId5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66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67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68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69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0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1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2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3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4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5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6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7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8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79.xml><?xml version="1.0" encoding="utf-8"?>
<p:tagLst xmlns:p="http://schemas.openxmlformats.org/presentationml/2006/main">
  <p:tag name="KSO_WM_DIAGRAM_VIRTUALLY_FRAME" val="{&quot;height&quot;:476.55,&quot;left&quot;:40.55,&quot;top&quot;:213.8,&quot;width&quot;:676.85}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3634937],&quot;65&quot;:[20205081]}"/>
</p:tagLst>
</file>

<file path=ppt/tags/tag117.xml><?xml version="1.0" encoding="utf-8"?>
<p:tagLst xmlns:p="http://schemas.openxmlformats.org/presentationml/2006/main">
  <p:tag name="resource_record_key" val="{&quot;10&quot;:[363493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WPS 演示</Application>
  <PresentationFormat>自定义</PresentationFormat>
  <Paragraphs>135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阿里巴巴普惠体 R</vt:lpstr>
      <vt:lpstr>阿里巴巴普惠体 M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Audrey.J季秦勤</cp:lastModifiedBy>
  <cp:revision>183</cp:revision>
  <dcterms:created xsi:type="dcterms:W3CDTF">2019-06-19T02:08:00Z</dcterms:created>
  <dcterms:modified xsi:type="dcterms:W3CDTF">2026-03-05T07:48:57Z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C1306BA3611A41E9959024F7141E667F_13</vt:lpwstr>
  </property>
</Properties>
</file>